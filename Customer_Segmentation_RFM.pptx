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c8561baeab0e8f65" providerId="LiveId" clId="{295781EC-1336-4E02-A7AD-F539EB4EEFC6}"/>
    <pc:docChg chg="undo modSld">
      <pc:chgData name="" userId="c8561baeab0e8f65" providerId="LiveId" clId="{295781EC-1336-4E02-A7AD-F539EB4EEFC6}" dt="2026-04-17T21:18:21.879" v="172" actId="20577"/>
      <pc:docMkLst>
        <pc:docMk/>
      </pc:docMkLst>
      <pc:sldChg chg="modSp">
        <pc:chgData name="" userId="c8561baeab0e8f65" providerId="LiveId" clId="{295781EC-1336-4E02-A7AD-F539EB4EEFC6}" dt="2026-04-17T21:18:21.879" v="172" actId="20577"/>
        <pc:sldMkLst>
          <pc:docMk/>
          <pc:sldMk cId="0" sldId="256"/>
        </pc:sldMkLst>
        <pc:spChg chg="mod">
          <ac:chgData name="" userId="c8561baeab0e8f65" providerId="LiveId" clId="{295781EC-1336-4E02-A7AD-F539EB4EEFC6}" dt="2026-04-17T21:17:14.033" v="3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" userId="c8561baeab0e8f65" providerId="LiveId" clId="{295781EC-1336-4E02-A7AD-F539EB4EEFC6}" dt="2026-04-17T21:17:43.443" v="100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" userId="c8561baeab0e8f65" providerId="LiveId" clId="{295781EC-1336-4E02-A7AD-F539EB4EEFC6}" dt="2026-04-17T21:18:15.487" v="151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" userId="c8561baeab0e8f65" providerId="LiveId" clId="{295781EC-1336-4E02-A7AD-F539EB4EEFC6}" dt="2026-04-17T21:18:21.879" v="172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40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E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RFM Analysis &amp; K-Means Clustering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286000" cy="4572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Naqash Amjad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 </a:t>
            </a:r>
            <a:r>
              <a:rPr lang="en-US" sz="1300" dirty="0" err="1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IMSciences</a:t>
            </a: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MSDS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210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Mining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684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383280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237744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online retailer has 1M+ transactions but no customer labels. We need to discover natural groups from pure transaction history — no supervision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3383280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0128" y="1508760"/>
            <a:ext cx="237744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marketing, targeted retention, and smarter budget allocation all depend on knowing which customers are valuable, loyal, at-risk, or dormant.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06040" cy="3383280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Our Approach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44768" y="1508760"/>
            <a:ext cx="237744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 + K-Means clustering, following the full CRISP-DM lifecycle from business understanding through deployment-ready segment profiles.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CRISP-DM  ·  Dataset: UCI Online Retail II  ·  Language: Python /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— Online Retail 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14300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114300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06040" cy="1143000"/>
          </a:xfrm>
          <a:prstGeom prst="rect">
            <a:avLst/>
          </a:prstGeom>
          <a:solidFill>
            <a:srgbClr val="0D1B4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2009 – Dec 2011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512064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transaction ID (prefix 'C' = cancellation)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identifier (has nulls)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of the 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purchased (negatives exist)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in GBP (negatives exist)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85216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Quirks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2852928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C-prefix invoices = cancellations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of rows have null CustomerID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Quantity &amp; Price values exist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present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41832"/>
            <a:ext cx="502920" cy="50292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" y="1444752"/>
            <a:ext cx="9144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914400"/>
            <a:ext cx="7680960" cy="64008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950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 Customer 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225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243,007 rows removed — cannot assign spending without an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502920" cy="50292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" y="2194560"/>
            <a:ext cx="9144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1664208"/>
            <a:ext cx="7680960" cy="64008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Cancelled 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1975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19,494 rows removed — C-prefix invoices flagged as returns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502920" cy="50292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" y="2944368"/>
            <a:ext cx="9144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414016"/>
            <a:ext cx="7680960" cy="64008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Non-Positive Qty &amp; Price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and zero values are erroneous data entries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502920" cy="50292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" y="3694176"/>
            <a:ext cx="91440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163824"/>
            <a:ext cx="7680960" cy="64008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34,335 exact duplicates removed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41064"/>
            <a:ext cx="502920" cy="502920"/>
          </a:xfrm>
          <a:prstGeom prst="ellipse">
            <a:avLst/>
          </a:prstGeom>
          <a:solidFill>
            <a:srgbClr val="3DBFA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3913632"/>
            <a:ext cx="7680960" cy="640080"/>
          </a:xfrm>
          <a:prstGeom prst="rect">
            <a:avLst/>
          </a:prstGeom>
          <a:solidFill>
            <a:srgbClr val="EAF9F6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87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TotalPrice Column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 = Quantity × Price  →  ready for RFM aggregation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914400"/>
            <a:ext cx="2468880" cy="3200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779,425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2636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92240" y="2788920"/>
            <a:ext cx="2011680" cy="2743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1,067,371 raw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280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(R)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 last purchase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Ref: 10 Dec 2011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(F)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distinct invoices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spending (£)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TotalPrice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Applied</a:t>
            </a:r>
            <a:endParaRPr lang="en-US" sz="1500" dirty="0"/>
          </a:p>
        </p:txBody>
      </p:sp>
      <p:sp>
        <p:nvSpPr>
          <p:cNvPr id="4" name="Shape 3"/>
          <p:cNvSpPr/>
          <p:nvPr/>
        </p:nvSpPr>
        <p:spPr>
          <a:xfrm>
            <a:off x="365760" y="2880360"/>
            <a:ext cx="2606040" cy="173736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88036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944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log1p Transform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R, F, M to reduce right-skew towards a more normal distribution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2880360"/>
            <a:ext cx="2606040" cy="173736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288036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2944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IQR Outlier Removal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877 extreme customers removed; bounds per feature using 1.5 × IQR rule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2880360"/>
            <a:ext cx="2606040" cy="173736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2880360"/>
            <a:ext cx="2606040" cy="64008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2944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StandardScaler Norm.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mean, unit variance — ensures K-Means treats each dimension equally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5,001 customers with clean, normalised RFM features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02920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22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577840" y="1261872"/>
            <a:ext cx="420624" cy="420624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280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RFM features are heavily right-skewed. log1p transform successfully normalised all three distributions.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404872"/>
            <a:ext cx="420624" cy="420624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Monetary are moderately correlated (r = 0.63 raw, 0.85 log). Recency is largely independent.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3547872"/>
            <a:ext cx="420624" cy="420624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0760" y="3566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dominates (&gt;90% of customers). Germany and France are the next largest markets.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66160"/>
            <a:ext cx="84124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K: Elbow Method &amp; Silhouette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577840" cy="29260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822960"/>
          <a:ext cx="2651760" cy="29260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F4F7FB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3840480"/>
            <a:ext cx="64008" cy="109728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5" name="Text 4"/>
          <p:cNvSpPr/>
          <p:nvPr/>
        </p:nvSpPr>
        <p:spPr>
          <a:xfrm>
            <a:off x="548640" y="39319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 = 4?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peaks at silhouette 0.4149 but yields only two vague groups. K=4 delivers four distinct, business-interpretable segments (Champions, Loyal, At-Risk, Hibernating) with a silhouette of 0.3624 — the next local maximum after K=2.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— 12 Model Configurations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8039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Removal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Final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silhouette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MinMaxScaler+IQR+K=4 achieves the highest silhouette (0.3944), but StandardScaler+IQR+K=4 is chosen as the principled default for log-transformed data — delivering consistent, interpretable results.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 Profiles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18288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Recency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Monetary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Hibernating /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1,571  (31.4%)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 /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982   (19.6%)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1,138  (22.8%)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 / Declining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1,310  (26.2%)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80360"/>
            <a:ext cx="4389120" cy="2148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834640"/>
            <a:ext cx="4114800" cy="21945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assignment: rank-based composite scoring on R (inverted), F, and M across clusters.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Visualisations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343400" cy="21945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4343400" cy="2194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0175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 Projection (69.7% + 22.6% variance explained)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709160" y="30175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2D Projection (non-linear, cluster topology)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337560"/>
            <a:ext cx="3474720" cy="169164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337560"/>
            <a:ext cx="5029200" cy="16916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4320" y="5029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Radar Chart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3886200" y="5029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Dendrogram (Ward linkage, n=2000 sample)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Strategies per Segment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965960"/>
          </a:xfrm>
          <a:prstGeom prst="rect">
            <a:avLst/>
          </a:prstGeom>
          <a:solidFill>
            <a:srgbClr val="F4F7F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D870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78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Champions  (C2)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to exclusive VIP / loyalty tier programmes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product recommendations and early access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referrals — these customers are your advocates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965960"/>
          </a:xfrm>
          <a:prstGeom prst="rect">
            <a:avLst/>
          </a:prstGeom>
          <a:solidFill>
            <a:srgbClr val="F4F7F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78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Loyal / Regular  (C1)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44475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offers and volume discounts to increase basket size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emails with personalised thank-you messages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and anniversary discounts to deepen relationship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206240" cy="1965960"/>
          </a:xfrm>
          <a:prstGeom prst="rect">
            <a:avLst/>
          </a:prstGeom>
          <a:solidFill>
            <a:srgbClr val="F4F7F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420624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At-Risk  (C3)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59359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 with time-limited discount codes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surveys to understand churn drivers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re-engagement emails referencing past purchases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206240" cy="1965960"/>
          </a:xfrm>
          <a:prstGeom prst="rect">
            <a:avLst/>
          </a:prstGeom>
          <a:solidFill>
            <a:srgbClr val="F4F7F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4206240" cy="457200"/>
          </a:xfrm>
          <a:prstGeom prst="rect">
            <a:avLst/>
          </a:prstGeom>
          <a:solidFill>
            <a:srgbClr val="2E6EC8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127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💤  Hibernating / Lost  (C0)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59359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re-engagement emails based on purchase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small incentive to gauge residual interest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portion will not return — focus budget elsewhere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E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2286000" cy="4572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1155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5,001 customers successfully segmented into 4 clear, interpretable groups via K-Means on RFM features.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8653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(StandardScaler + IQR removal + K=4) achieves Silhouette Score = 0.3624.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CRISP-DM workflow followed: from raw data through cleaning, EDA, modelling, and evaluation.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solidFill>
            <a:srgbClr val="3DB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3649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maps to concrete, actionable marketing and retention strategies.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3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"Segmentation turns transaction data into strategy."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975</Words>
  <Application>Microsoft Office PowerPoint</Application>
  <PresentationFormat>On-screen Show (16:9)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RFM Analysis &amp; K-Means Clustering</dc:title>
  <dc:subject>PptxGenJS Presentation</dc:subject>
  <dc:creator>Student</dc:creator>
  <cp:lastModifiedBy>naqash amjad</cp:lastModifiedBy>
  <cp:revision>1</cp:revision>
  <dcterms:created xsi:type="dcterms:W3CDTF">2026-04-17T21:13:31Z</dcterms:created>
  <dcterms:modified xsi:type="dcterms:W3CDTF">2026-04-17T21:18:24Z</dcterms:modified>
</cp:coreProperties>
</file>